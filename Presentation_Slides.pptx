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76" r:id="rId3"/>
    <p:sldId id="268" r:id="rId4"/>
    <p:sldId id="269" r:id="rId5"/>
    <p:sldId id="271" r:id="rId6"/>
    <p:sldId id="272" r:id="rId7"/>
    <p:sldId id="273" r:id="rId8"/>
    <p:sldId id="274" r:id="rId9"/>
    <p:sldId id="270" r:id="rId10"/>
    <p:sldId id="275" r:id="rId11"/>
    <p:sldId id="277" r:id="rId12"/>
    <p:sldId id="278" r:id="rId13"/>
    <p:sldId id="279" r:id="rId14"/>
    <p:sldId id="262" r:id="rId15"/>
    <p:sldId id="263" r:id="rId16"/>
    <p:sldId id="264" r:id="rId17"/>
    <p:sldId id="265" r:id="rId18"/>
    <p:sldId id="266" r:id="rId19"/>
    <p:sldId id="267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1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46" autoAdjust="0"/>
    <p:restoredTop sz="94660"/>
  </p:normalViewPr>
  <p:slideViewPr>
    <p:cSldViewPr snapToGrid="0">
      <p:cViewPr varScale="1">
        <p:scale>
          <a:sx n="79" d="100"/>
          <a:sy n="79" d="100"/>
        </p:scale>
        <p:origin x="84" y="1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c125c01d8_0_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52" name="Google Shape;52;g36c125c01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550EABAD-6AF9-3B1D-FD6E-63C8807F2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761BC8E7-21DA-2576-04C8-03595F433D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0333D4C7-60A1-B842-CB62-1F32DA53A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8244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9C594792-74D6-794C-06CD-43C75758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7B940FDB-98FC-9C17-BE81-CF94846E3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D70C5695-441A-4E7F-6BFF-579CA7FF10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54427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80726607-465F-B6C8-6F65-26BF916E0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CC596319-22CB-303E-A9E3-31111243A2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AB2C749E-C5B3-49BF-B890-C9A5D4FECD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33867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683FE714-39FC-DFCB-68F4-38D0F6EA9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E09DE32D-DA14-3E2D-A47B-58C58A3B8E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DF90289A-3B1E-F453-9965-F9CCC84FD6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1792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9A6D2734-163E-84B1-7B06-F62163097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80266837-2EF5-2210-FA88-1B5EBC476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902B0796-A754-13F0-AAA3-43015E78F4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3633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838CF19B-E444-BBE7-4FC0-806C02507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87259C32-4331-9468-1DA5-E2FFB963D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6290BE05-C74F-BB9D-0688-4D7EA64BE4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09983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9ABA401E-6733-30F5-1268-AA01EBACC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50E89336-07F2-C9C7-4576-89B057AA9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577DB558-568D-AB0A-F1B7-854569DE5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91965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311FF295-82BB-FDE1-51B5-757A9EA1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FCADD9D7-2759-D31A-F8E5-DE63E5CFF3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488702FF-57B5-B3E4-2BA3-ACFAF4E2BA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4853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F4927B27-EA59-DD27-1C59-56858A09E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4796AF9E-B3FE-1379-4F30-F0E9E23CF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C88B21C7-1245-7EE7-BECB-F686995A79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87121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B9022D29-6A57-DBCF-AB62-9360EF159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341BEECE-C541-4230-D405-34DE526DB0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CAC5602C-93A0-5236-92E3-F54405C52C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5283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14309615-3130-B20C-BE2E-0BF0AC21C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64118C73-1C99-B2F6-1F26-65C338E226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E164E5EC-94BA-3233-733C-1907521791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67269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444AA6A1-1669-AE7A-71A3-2ED61279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70CC3169-5314-676E-81BC-77BFFE3628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AB3BB46F-7FDA-834A-CA20-CE4E4AF3BB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4389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CEF63F64-F875-3892-028D-1A79BCF76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B6A293D7-F98B-48B6-BC38-C412C59DB9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73E874FD-5139-3B87-5C38-B27767A42A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3347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D94C6CFA-F9FB-8D30-C40A-A122B23ED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758A2A6F-BF2E-333A-5945-24B2F2EF54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698F9DB4-2835-ABBF-D497-8BC7D24090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2165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08D52B6E-610D-0167-4AB1-82A120616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2FB6A68C-3D5A-FA84-0DEF-2007F3D3CC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D7AD76FF-BCDA-1AFD-B458-7FADE2D7CD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24142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1729C3F2-1A90-68ED-33D6-2D611A70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DF317C68-2AFC-FC04-B965-9EF4E81F59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C0F8F4B5-1076-36E4-A833-69192D6BC0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55222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93F000ED-8C72-A517-1EEA-6D165C31F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55E88334-6E28-69EB-E787-0A2FBB55C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2ADDAE8B-AA68-604F-2604-6C589EDBB5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64085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89E82932-A1B5-AE51-0566-7EE827814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8CCD82A8-B84B-FFC1-B4F8-40214D72DC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2FA4270A-17E3-0F90-AB4A-35C68AF566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38712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9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9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9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1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7" lvl="1" indent="-304792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2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2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2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1" lvl="5" indent="-304792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2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2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2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1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7" lvl="1" indent="-304792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2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2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2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1" lvl="5" indent="-304792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2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2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2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9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9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04792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377" lvl="1" indent="-304792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2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2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2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1" lvl="5" indent="-304792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2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2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2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9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1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9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9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22859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9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1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9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9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9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11" Type="http://schemas.openxmlformats.org/officeDocument/2006/relationships/image" Target="../media/image16.jpe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jp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11" Type="http://schemas.openxmlformats.org/officeDocument/2006/relationships/image" Target="../media/image21.png"/><Relationship Id="rId5" Type="http://schemas.openxmlformats.org/officeDocument/2006/relationships/image" Target="../media/image3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21920" y="538478"/>
            <a:ext cx="8279400" cy="2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Clr>
                <a:schemeClr val="dk1"/>
              </a:buClr>
              <a:buSzPts val="1370"/>
            </a:pPr>
            <a:endParaRPr sz="1180">
              <a:solidFill>
                <a:schemeClr val="dk1"/>
              </a:solidFill>
            </a:endParaRPr>
          </a:p>
          <a:p>
            <a:pPr marL="457189" algn="ctr">
              <a:buSzPts val="1640"/>
            </a:pPr>
            <a:endParaRPr sz="1240" i="1" baseline="30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909600" y="3096001"/>
            <a:ext cx="1324800" cy="114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56" name="Google Shape;56;p13" title="University_of_Zululand_logo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79" y="2994541"/>
            <a:ext cx="914251" cy="11428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58" name="Google Shape;58;p13" title="New_UNIZULU_Logo_Landscape-01-1024x446.png"/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DE227F-2566-D33C-D390-2119763E594D}"/>
              </a:ext>
            </a:extLst>
          </p:cNvPr>
          <p:cNvSpPr txBox="1"/>
          <p:nvPr/>
        </p:nvSpPr>
        <p:spPr>
          <a:xfrm>
            <a:off x="987552" y="482056"/>
            <a:ext cx="7205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1561AA"/>
                </a:solidFill>
              </a:rPr>
              <a:t>Abundance and Biomass of Sand Prawn </a:t>
            </a:r>
            <a:r>
              <a:rPr lang="en-US" sz="2400" b="1" i="1" dirty="0">
                <a:solidFill>
                  <a:srgbClr val="1561AA"/>
                </a:solidFill>
              </a:rPr>
              <a:t>Kraussillichirus kraussi</a:t>
            </a:r>
            <a:r>
              <a:rPr lang="en-US" sz="2400" b="1" dirty="0">
                <a:solidFill>
                  <a:srgbClr val="1561AA"/>
                </a:solidFill>
              </a:rPr>
              <a:t> in Richards Bay Harbour.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F7570-5CC6-3132-E93F-C8B82A813132}"/>
              </a:ext>
            </a:extLst>
          </p:cNvPr>
          <p:cNvSpPr txBox="1"/>
          <p:nvPr/>
        </p:nvSpPr>
        <p:spPr>
          <a:xfrm>
            <a:off x="1722014" y="1658078"/>
            <a:ext cx="588645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Zizipho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Mamfengu</a:t>
            </a:r>
            <a:r>
              <a:rPr lang="en-US" sz="12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Lungelo Nsibande</a:t>
            </a:r>
            <a:r>
              <a:rPr lang="en-US" sz="12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Ntuthuko Masikane</a:t>
            </a:r>
            <a:r>
              <a:rPr lang="en-US" sz="12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1,2</a:t>
            </a:r>
          </a:p>
          <a:p>
            <a:pPr algn="ctr"/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b="1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Zoology, University of Zululand, </a:t>
            </a:r>
            <a:r>
              <a:rPr lang="en-US" sz="1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KwaDlangezwa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3886, South Africa</a:t>
            </a:r>
          </a:p>
          <a:p>
            <a:pPr algn="ctr"/>
            <a:r>
              <a:rPr lang="en-US" sz="1200" b="1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South African Institute for Aquatic Biodiversity, </a:t>
            </a:r>
            <a:r>
              <a:rPr lang="en-US" sz="1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Makhanda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South Africa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510FAA-4632-E56B-4364-1862127A6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538478"/>
            <a:ext cx="1413738" cy="87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5180681B-7EF8-13EE-9C89-8A3E65F0E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60AAEB9D-54AF-BCD2-40D8-DFAA5D7CAB5A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600" b="1" dirty="0">
                <a:solidFill>
                  <a:srgbClr val="1561AA"/>
                </a:solidFill>
              </a:rPr>
              <a:t>Introduction</a:t>
            </a:r>
            <a:endParaRPr sz="3600" b="1" dirty="0">
              <a:solidFill>
                <a:srgbClr val="1561AA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215D735A-C2A2-9742-23A0-B148246A7EA8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65EF8459-AEC2-6A8B-C2A0-5686857BB60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7C7F5F61-07ED-A51B-7064-BC8CD3F1F02A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53EE2E6B-2F54-53B6-43C8-34983FFFC1D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7FBCC3-FC28-FE05-189D-DD2A58C190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336" y="158157"/>
            <a:ext cx="1413738" cy="874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40A759-8D74-4112-97B8-8E8B44CEC8EE}"/>
              </a:ext>
            </a:extLst>
          </p:cNvPr>
          <p:cNvSpPr txBox="1"/>
          <p:nvPr/>
        </p:nvSpPr>
        <p:spPr>
          <a:xfrm>
            <a:off x="194251" y="1232757"/>
            <a:ext cx="6833171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chemeClr val="accent2"/>
                </a:solidFill>
              </a:rPr>
              <a:t>Kraussillichirus </a:t>
            </a:r>
            <a:r>
              <a:rPr lang="en-US" sz="1200" i="1" dirty="0"/>
              <a:t>kraussi</a:t>
            </a:r>
            <a:r>
              <a:rPr lang="en-US" sz="1200" dirty="0"/>
              <a:t> is a small burrowing sand prawn, about 3–5 cm in length.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It is classified as macrobenthos, living within or on estuarine sediments</a:t>
            </a:r>
            <a:r>
              <a:rPr lang="en-US" dirty="0"/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It plays an important role in estuarine ecosystems</a:t>
            </a:r>
            <a:r>
              <a:rPr lang="en-US" dirty="0"/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It aerates sediments and enhances nutrient recycling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B3F638-B2D7-72CE-DBCB-7E1167F9EE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9215" y="2854370"/>
            <a:ext cx="1798476" cy="17984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9A2B59-9B32-D8CD-C493-E4C9430BB3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885" y="3074468"/>
            <a:ext cx="2200847" cy="138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31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61FD5455-2A2B-41FF-1C26-6A56DD4CD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1A7AF86B-BE7B-350F-0C64-E5040A2CED2A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Introduction</a:t>
            </a:r>
            <a:endParaRPr sz="3200" b="1" dirty="0">
              <a:solidFill>
                <a:srgbClr val="1561AA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C5D9A0D1-8D74-F5EA-74DE-0896655F10F5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B041C592-67ED-BAB7-5A43-BFF3FF75DBB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B4674EC5-9812-6BD6-1544-ECAAA64D29B4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469ECD14-70AD-82C1-6EC0-B69A2ECBD68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2DF4EA-B70D-2057-2C1D-70C543FDD2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336" y="158157"/>
            <a:ext cx="1413738" cy="87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8B1C50-DD0E-716D-7537-8AFD9A656A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3218" y="1133916"/>
            <a:ext cx="4327883" cy="320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FCA746-C8C6-4B0A-BC5F-A5D5EBC23675}"/>
              </a:ext>
            </a:extLst>
          </p:cNvPr>
          <p:cNvSpPr txBox="1"/>
          <p:nvPr/>
        </p:nvSpPr>
        <p:spPr>
          <a:xfrm>
            <a:off x="194251" y="1232757"/>
            <a:ext cx="3360479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1561AA"/>
                </a:solidFill>
              </a:rPr>
              <a:t>Previous Studies</a:t>
            </a:r>
          </a:p>
          <a:p>
            <a:endParaRPr lang="en-US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Temperature: High or low extremes reduce growth.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Salinity: Very high or low salinity decreases abundance.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Dissolved oxygen: Low oxygen limits survival, high oxygen allows active burrowing and higher biomass.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Estuary type: Permanently open estuaries favor stable populations.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716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F126223E-CEA4-4B02-714E-5C091FAB0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60AFCB0A-0C95-7BF8-4135-6B5173AF0993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600" b="1" dirty="0">
                <a:solidFill>
                  <a:srgbClr val="1561AA"/>
                </a:solidFill>
              </a:rPr>
              <a:t>Problem statement</a:t>
            </a:r>
            <a:endParaRPr sz="3600" b="1" dirty="0">
              <a:solidFill>
                <a:srgbClr val="1561AA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7BE855C4-194E-406E-28F4-9F42722F803B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36A8240D-E4E7-D0E2-34CF-975DC7C7182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90AC57EB-F239-B1D9-CA4C-C26139624EC2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7AC3611C-3E5A-590F-5B5C-3D85EA9748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6C01F8-7078-1469-54F3-462206DDD9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336" y="158157"/>
            <a:ext cx="1413738" cy="874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BB2C5B-01CE-2D01-8914-4966E476CC43}"/>
              </a:ext>
            </a:extLst>
          </p:cNvPr>
          <p:cNvSpPr txBox="1"/>
          <p:nvPr/>
        </p:nvSpPr>
        <p:spPr>
          <a:xfrm>
            <a:off x="194251" y="1232757"/>
            <a:ext cx="3360479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1561AA"/>
                </a:solidFill>
              </a:rPr>
              <a:t>Prev</a:t>
            </a:r>
            <a:endParaRPr lang="en-US" b="1" dirty="0">
              <a:solidFill>
                <a:srgbClr val="1561AA"/>
              </a:solidFill>
            </a:endParaRPr>
          </a:p>
          <a:p>
            <a:r>
              <a:rPr lang="en-US" sz="1200" dirty="0" err="1">
                <a:solidFill>
                  <a:schemeClr val="accent2"/>
                </a:solidFill>
              </a:rPr>
              <a:t>nnnnn</a:t>
            </a:r>
            <a:endParaRPr lang="en-US" sz="1200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7B2222-B206-A164-8DB9-96EC2EE13B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8930" y="2863500"/>
            <a:ext cx="2592380" cy="147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04A8EB-5022-3973-F7AF-F72F53C99D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426" y="2841111"/>
            <a:ext cx="1944000" cy="1456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FC1DFA-B6FF-F825-9F36-E6DC5BB770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6489" y="2821572"/>
            <a:ext cx="3473172" cy="14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43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898F1137-EBAB-61E8-F967-403B502AE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F1183823-D257-2949-070C-22B3FC6F6EEC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600" b="1" dirty="0">
                <a:solidFill>
                  <a:srgbClr val="1561AA"/>
                </a:solidFill>
              </a:rPr>
              <a:t>Aim and Objectives</a:t>
            </a:r>
            <a:endParaRPr sz="3600" b="1" dirty="0">
              <a:solidFill>
                <a:srgbClr val="1561AA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4D0519BE-1EF9-3252-AD6E-B429522432DE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4142AB70-9B51-25FD-A0AC-69A26B6AA48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28F5CA2F-A90E-B250-243A-E9E54EBA580B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D9A030D4-B22B-934C-3F5F-5B56B186EA3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CA7A98-57F1-0117-8A33-CEB8E664F7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336" y="158157"/>
            <a:ext cx="1413738" cy="874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392C4E-DF2D-2782-453D-1E51E0709A19}"/>
              </a:ext>
            </a:extLst>
          </p:cNvPr>
          <p:cNvSpPr txBox="1"/>
          <p:nvPr/>
        </p:nvSpPr>
        <p:spPr>
          <a:xfrm>
            <a:off x="194252" y="1232756"/>
            <a:ext cx="849685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561AA"/>
                </a:solidFill>
              </a:rPr>
              <a:t>Aim</a:t>
            </a:r>
            <a:endParaRPr lang="en-US" b="1" dirty="0">
              <a:solidFill>
                <a:srgbClr val="1561AA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The main aim of this study is to assess the abundance and biomass of </a:t>
            </a:r>
            <a:r>
              <a:rPr lang="en-US" sz="1200" i="1" dirty="0">
                <a:solidFill>
                  <a:schemeClr val="accent2"/>
                </a:solidFill>
              </a:rPr>
              <a:t>Kraussillichirus kraussi </a:t>
            </a:r>
            <a:r>
              <a:rPr lang="en-US" sz="1200" dirty="0">
                <a:solidFill>
                  <a:schemeClr val="accent2"/>
                </a:solidFill>
              </a:rPr>
              <a:t>in Richards Bay Harbour.</a:t>
            </a:r>
            <a:endParaRPr lang="en-US" sz="1500" b="1" dirty="0">
              <a:solidFill>
                <a:srgbClr val="1561AA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561AA"/>
                </a:solidFill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accent2"/>
                </a:solidFill>
              </a:rPr>
              <a:t>The objectives of this study: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Quantify the abundance of </a:t>
            </a:r>
            <a:r>
              <a:rPr lang="en-US" sz="1200" i="1" dirty="0">
                <a:solidFill>
                  <a:schemeClr val="accent2"/>
                </a:solidFill>
              </a:rPr>
              <a:t>Kraussillichirus kraussi </a:t>
            </a:r>
            <a:r>
              <a:rPr lang="en-US" sz="1200" dirty="0">
                <a:solidFill>
                  <a:schemeClr val="accent2"/>
                </a:solidFill>
              </a:rPr>
              <a:t>at selected sites.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Determine biomass across high and low-flow seasons.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Relate these findings to sediment grain size and organic content.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Assess environmental stress using ABC curves.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574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C7B76CA6-185C-D934-A523-8F1FC8E9D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567D657F-6047-74E7-6AA5-60A8462EDB81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Materials and Methods</a:t>
            </a:r>
            <a:endParaRPr sz="3200" b="1" dirty="0">
              <a:solidFill>
                <a:srgbClr val="1561AA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1B81D3E4-6E9B-12B9-AA6C-646BEA6C7C03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AA573252-E5D4-3D20-F2FF-178CF9467A6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6AB73C04-A831-EAF3-F95E-F8623D0800D0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1999CB76-7B47-7C5A-8AAB-261482343A5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F3FD6F-057A-0A76-EFB1-FA1EB7257F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336" y="158157"/>
            <a:ext cx="1413738" cy="874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E96916-D709-B968-5E1F-85F6BF53C952}"/>
              </a:ext>
            </a:extLst>
          </p:cNvPr>
          <p:cNvSpPr txBox="1"/>
          <p:nvPr/>
        </p:nvSpPr>
        <p:spPr>
          <a:xfrm>
            <a:off x="194251" y="1232757"/>
            <a:ext cx="3360479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1561AA"/>
                </a:solidFill>
              </a:rPr>
              <a:t>Study Area</a:t>
            </a:r>
            <a:endParaRPr lang="en-US" b="1" dirty="0">
              <a:solidFill>
                <a:srgbClr val="1561AA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Richards Bay Harbour (28</a:t>
            </a:r>
            <a:r>
              <a:rPr lang="pt-BR" sz="1200" dirty="0"/>
              <a:t>°48′ S, </a:t>
            </a:r>
            <a:r>
              <a:rPr lang="en-US" sz="1200" dirty="0"/>
              <a:t>32.</a:t>
            </a:r>
            <a:r>
              <a:rPr lang="pt-BR" sz="1200" dirty="0"/>
              <a:t>°04′ E</a:t>
            </a:r>
            <a:r>
              <a:rPr lang="en-US" sz="1200" dirty="0"/>
              <a:t>) is a subtropical estuarine bay in KwaZulu-Natal.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It is South Africa’s largest and busiest deep-water port, used for exporting coal  and is popular for recreational fishing.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The </a:t>
            </a:r>
            <a:r>
              <a:rPr lang="en-US" sz="1200" dirty="0" err="1"/>
              <a:t>harbour</a:t>
            </a:r>
            <a:r>
              <a:rPr lang="en-US" sz="1200" dirty="0"/>
              <a:t> is earmarked for expansion.</a:t>
            </a:r>
          </a:p>
          <a:p>
            <a:endParaRPr lang="en-US" sz="1200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57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1DC87230-84EB-58D6-AA13-68C3F89E2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AA9416A3-4631-B428-A09F-35D0A0161184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Materials and Methods</a:t>
            </a:r>
            <a:endParaRPr sz="3200" b="1" dirty="0">
              <a:solidFill>
                <a:srgbClr val="1561AA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85E97182-FEEE-26C4-438A-2AF22CA08F8E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C1301555-BC75-AE52-EADD-C1C3F049737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63C80BF-C3AF-0DD0-B2E1-80D28CC6EBF9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81508B9C-66B0-0259-78A2-CDC7840590C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4153F7-A3AE-F8B9-B488-EA5D84EC11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336" y="158157"/>
            <a:ext cx="1413738" cy="874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3CF926-E475-21BE-6995-4284D253C26F}"/>
              </a:ext>
            </a:extLst>
          </p:cNvPr>
          <p:cNvSpPr txBox="1"/>
          <p:nvPr/>
        </p:nvSpPr>
        <p:spPr>
          <a:xfrm>
            <a:off x="194251" y="1232757"/>
            <a:ext cx="821822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1561AA"/>
                </a:solidFill>
              </a:rPr>
              <a:t>Field trip.</a:t>
            </a:r>
            <a:endParaRPr lang="en-US" b="1" dirty="0">
              <a:solidFill>
                <a:srgbClr val="1561AA"/>
              </a:solidFill>
            </a:endParaRPr>
          </a:p>
          <a:p>
            <a:endParaRPr lang="en-US" sz="1200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Sand prawns were collected using a prawn pump from triplicate quadrats (area: 1 m</a:t>
            </a:r>
            <a:r>
              <a:rPr lang="en-GB" baseline="30000" dirty="0"/>
              <a:t>2</a:t>
            </a:r>
            <a:r>
              <a:rPr lang="en-GB" dirty="0"/>
              <a:t>) at three sites over 3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DD9C6D-8537-D29C-147B-7143F04692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899" y="2571750"/>
            <a:ext cx="1422820" cy="144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ACB60D-F66A-700C-5D12-A76862B612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0168" y="2571750"/>
            <a:ext cx="589256" cy="14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816A8A-55B8-F086-8F75-273CC60BA2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9901" y="2552148"/>
            <a:ext cx="2010500" cy="14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6E96EA-62EA-796F-413F-B49F22D099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1790" y="2552148"/>
            <a:ext cx="1082580" cy="144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1D73B0-C6AB-491C-5612-474AD416084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6436" y="2516689"/>
            <a:ext cx="108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43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51BF268C-8B11-70A3-13EF-19AC497A7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CBA8A2C1-2A75-33D1-040A-008B5BBA5987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Materials and Methods</a:t>
            </a:r>
            <a:endParaRPr sz="3200" b="1" dirty="0">
              <a:solidFill>
                <a:srgbClr val="1561AA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CC4D4807-6B13-BA94-2E21-1E37664096AF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6B728DA1-BA95-DCB2-0AB5-B2DCE99A8D0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A9395284-215D-0EA5-D049-BE8F6F7B2A1A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8D36A0AD-AE72-3EA4-B7DB-1F5F72AE273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4DBA5D-820B-08A3-DB2E-D6820E602F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336" y="158157"/>
            <a:ext cx="1413738" cy="874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7DDFF5-57F4-5FE1-D4C8-91E907AEA0C9}"/>
              </a:ext>
            </a:extLst>
          </p:cNvPr>
          <p:cNvSpPr txBox="1"/>
          <p:nvPr/>
        </p:nvSpPr>
        <p:spPr>
          <a:xfrm>
            <a:off x="194251" y="1232757"/>
            <a:ext cx="33604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61AA"/>
                </a:solidFill>
              </a:rPr>
              <a:t>Abundance and biomass.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For prawns, carapace length, width and weight were measured, followed by an estimation of abundance and biomass.</a:t>
            </a:r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15D4EF-1439-BFB8-8CBE-E28F18C30FA6}"/>
              </a:ext>
            </a:extLst>
          </p:cNvPr>
          <p:cNvSpPr txBox="1"/>
          <p:nvPr/>
        </p:nvSpPr>
        <p:spPr>
          <a:xfrm>
            <a:off x="4875359" y="1154474"/>
            <a:ext cx="3890630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1561AA"/>
                </a:solidFill>
              </a:rPr>
              <a:t>Grain size and Total Organic Content.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Triplicate sediment samples were also collected for the analysis of grain size (dry sieving method) and TOC (loss on ignition method).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9A4AE-37DD-4AB6-924B-E9835A908A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58" y="2640317"/>
            <a:ext cx="1190001" cy="126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14A4CE-8C12-E171-5ACE-7C82504C4F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0192" y="2650743"/>
            <a:ext cx="1271698" cy="126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A0C3BA-9989-A23E-BB70-7C803B668A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1565" y="2650743"/>
            <a:ext cx="1257078" cy="126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132642-137B-7E42-FCF8-0BCC8CA00B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5358" y="2602888"/>
            <a:ext cx="1678233" cy="126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3DE38D-AA9E-BFBE-4F15-CFB49CF5D9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70596" y="2602888"/>
            <a:ext cx="1044232" cy="126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81C18A-0939-8CCB-830E-79AA7F74BAE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3427" y="2602888"/>
            <a:ext cx="1001613" cy="126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A1E9CD3-7A8F-CB0B-8168-6C4D5B4976BD}"/>
              </a:ext>
            </a:extLst>
          </p:cNvPr>
          <p:cNvSpPr txBox="1"/>
          <p:nvPr/>
        </p:nvSpPr>
        <p:spPr>
          <a:xfrm>
            <a:off x="126025" y="4079921"/>
            <a:ext cx="85650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Data analysis and visualization were conducted using Programming Language and </a:t>
            </a:r>
            <a:r>
              <a:rPr lang="en-US" sz="1200" dirty="0" err="1"/>
              <a:t>Gradistat</a:t>
            </a:r>
            <a:r>
              <a:rPr lang="en-US" sz="1200" dirty="0"/>
              <a:t> v8.</a:t>
            </a:r>
          </a:p>
          <a:p>
            <a:endParaRPr lang="en-US" sz="1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190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4FE812D0-5CB0-DD3F-295B-1FA4D94B9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DEE6774E-CDAA-A285-282F-657C4E41BD68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Results and Discussion</a:t>
            </a:r>
            <a:endParaRPr sz="3200" b="1" dirty="0">
              <a:solidFill>
                <a:srgbClr val="1561AA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874B2737-566B-6D27-E965-E785E1DF58E3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DB4CB04C-8FFE-F420-B36B-FF3C179BEAB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BE0FDCF8-0AD9-066E-EFD3-FAE94EE86B9B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FEF12F33-8E10-9711-98D4-71AFA49A1A3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5E740F-9227-EDA5-89F9-AA1566C05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336" y="158157"/>
            <a:ext cx="1413738" cy="874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3D9FA1-4720-88A1-314F-99560173123F}"/>
              </a:ext>
            </a:extLst>
          </p:cNvPr>
          <p:cNvSpPr txBox="1"/>
          <p:nvPr/>
        </p:nvSpPr>
        <p:spPr>
          <a:xfrm>
            <a:off x="194251" y="1232757"/>
            <a:ext cx="4000559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1561A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Abundance and Biomass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Abundance-Biomass Comparison curves showed that Sites A and B had higher biomass relative to abundance, indicating low disturbance. 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Site C exhibited higher abundance than biomass, suggesting severe disturbance.  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This may be attributed to overharvesting of prawns for bait, potential sediment contamination or recreational activities. Site C is situated on Pelican Island, a popular recreational destination.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1DC066-FCFA-40EE-6F43-3F802BCDC9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3051" y="1181906"/>
            <a:ext cx="4464000" cy="33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316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512F9F47-563F-AB5F-88C2-F3AAD7C54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F9DCA58F-7BBA-3853-E6B9-8354CF19EEC6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Results and Discussion</a:t>
            </a:r>
            <a:endParaRPr sz="3200" b="1" dirty="0">
              <a:solidFill>
                <a:srgbClr val="1561AA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5E68A819-EBE7-7B66-C987-198E88D789E6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9E489A90-95B9-0DDD-C184-CB54A0808BF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5F85563B-DC47-CD57-22EA-FA45DDAB6FF4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EA061412-B4E2-82EB-BF71-A04847879BC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01A83B-EE03-F174-48C0-B1612EE351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336" y="158157"/>
            <a:ext cx="1413738" cy="874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A1D592-5FDF-614F-06AA-66F577728529}"/>
              </a:ext>
            </a:extLst>
          </p:cNvPr>
          <p:cNvSpPr txBox="1"/>
          <p:nvPr/>
        </p:nvSpPr>
        <p:spPr>
          <a:xfrm>
            <a:off x="194251" y="1232757"/>
            <a:ext cx="4000559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1561A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Abundance and Biomass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Abundance-Biomass Comparison curves showed that Sites A and B had higher biomass relative to abundance, indicating low disturbance. 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Site C exhibited higher abundance than biomass, suggesting severe disturbance.  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may be attributed to overharvesting of prawns for bait, potential sediment contamination or recreational activities. Site C is situated on Pelican Island, a popular recreational destination.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D1F47-A1F4-8EA6-A8EB-D3249C6E4D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051" y="1087192"/>
            <a:ext cx="432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42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46EAAC5B-3974-8EC5-0863-89DE60E3F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988386D1-87FD-6F0F-219F-55ADCDC298A9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Results and Discussion</a:t>
            </a:r>
            <a:endParaRPr sz="3200" b="1" dirty="0">
              <a:solidFill>
                <a:srgbClr val="1561AA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12593373-5A8A-0DD9-A35E-0DE402423440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E2F2B092-77C5-50D1-3A4D-528CF15772F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0A517B70-7074-8E54-E3D0-4A92ED7BE2C9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7DA6BCD5-D390-CE81-95EE-C0F8C7C3C3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346718-8632-C336-4756-3A5D581939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336" y="158157"/>
            <a:ext cx="1413738" cy="874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C0BDC6-6BE5-B85B-C504-76C25CB8108B}"/>
              </a:ext>
            </a:extLst>
          </p:cNvPr>
          <p:cNvSpPr txBox="1"/>
          <p:nvPr/>
        </p:nvSpPr>
        <p:spPr>
          <a:xfrm>
            <a:off x="194251" y="1232757"/>
            <a:ext cx="4000559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1561A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Abundance and Biomass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Abundance-Biomass Comparison curves showed that Sites A and B had higher biomass relative to abundance, indicating low disturbance. 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Site C exhibited higher abundance than biomass, suggesting severe disturbance.  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may be attributed to overharvesting of prawns for bait, potential sediment contamination or recreational activities. Site C is situated on Pelican Island, a popular recreational destination.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DE8FDC-6481-F46E-DD82-94409DAD2A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199" y="1063197"/>
            <a:ext cx="432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48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5DC97F8E-36AA-9CBA-C0D5-06BE458A4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35E0176A-0BF3-7655-5975-20EFB3826DB3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Results and Discussion</a:t>
            </a:r>
            <a:endParaRPr sz="3200" b="1" dirty="0">
              <a:solidFill>
                <a:srgbClr val="1561AA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A6557C27-7C57-7BBB-BA85-F8756BD3D010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2B391FB8-C040-6C63-66B4-BB913EA9304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918F4DAD-757E-A2CD-553E-224E8A3A49D2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30D86947-FC85-9CA2-B8F2-92D4BD418DF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5E6225-1FFA-815D-FE35-84F8AA8FE6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336" y="158157"/>
            <a:ext cx="1413738" cy="874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DFB83E-75D7-0A2C-9349-A5B3570AA616}"/>
              </a:ext>
            </a:extLst>
          </p:cNvPr>
          <p:cNvSpPr txBox="1"/>
          <p:nvPr/>
        </p:nvSpPr>
        <p:spPr>
          <a:xfrm>
            <a:off x="194251" y="1232757"/>
            <a:ext cx="4000559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1561A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Abundance and Biomass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Abundance-Biomass Comparison curves showed that Sites A and B had higher biomass relative to abundance, indicating low disturbance. 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Site C exhibited higher abundance than biomass, suggesting severe disturbance.  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may be attributed to overharvesting of prawns for bait, potential sediment contamination or recreational activities. Site C is situated on Pelican Island, a popular recreational destination.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C79A57-8ABE-DF03-E4E4-0F3CC907DE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199" y="1063197"/>
            <a:ext cx="432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201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DBA1ABFC-BAC8-E298-D068-5486E898A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205BF679-9D02-74FA-0AE9-4F7F574E7DF8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Results and Discussion</a:t>
            </a:r>
            <a:endParaRPr sz="3200" b="1" dirty="0">
              <a:solidFill>
                <a:srgbClr val="1561AA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067FD9B5-FF01-3D51-C365-742BC6122A91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9282D3C5-A586-53B9-2440-35C32F477B8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14C87DD-345A-0DD5-CDAE-5AF8D0908BE3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08E45C91-C8CF-3898-E46B-12EC750269F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6A456D-30DB-5DB6-6303-228E966A30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336" y="158157"/>
            <a:ext cx="1413738" cy="874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163DE4-CA50-CFEA-C669-063A747145CE}"/>
              </a:ext>
            </a:extLst>
          </p:cNvPr>
          <p:cNvSpPr txBox="1"/>
          <p:nvPr/>
        </p:nvSpPr>
        <p:spPr>
          <a:xfrm>
            <a:off x="194250" y="1232757"/>
            <a:ext cx="85954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Sediment Characteristics in relation to population Patterns by medium and fine sand. 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/>
              <a:t>Site B, Random Forest analysis shows that ‘Very fine/very coarse sand’ and ‘Medium/fine sand’ are the key sediment fractions driving variability in </a:t>
            </a:r>
            <a:r>
              <a:rPr lang="en-US" sz="1200" dirty="0" err="1"/>
              <a:t>macrobenthic</a:t>
            </a:r>
            <a:r>
              <a:rPr lang="en-US" sz="1200" dirty="0"/>
              <a:t> biomass and abundance. 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dirty="0"/>
              <a:t>PC1-PC2 shows that the sediment grain size and TOC strongly influence </a:t>
            </a:r>
            <a:r>
              <a:rPr lang="en-US" sz="1200" i="1" dirty="0"/>
              <a:t>Kraussillichirus kraussi </a:t>
            </a:r>
            <a:r>
              <a:rPr lang="en-US" sz="1200" dirty="0"/>
              <a:t>abundance and biomass, with sites clustering according to sediment and </a:t>
            </a:r>
            <a:r>
              <a:rPr lang="en-US" sz="1200" dirty="0" err="1"/>
              <a:t>macrobenthic</a:t>
            </a:r>
            <a:r>
              <a:rPr lang="en-US" sz="1200" dirty="0"/>
              <a:t> characteristics. </a:t>
            </a: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F2DDCC-6DB5-0868-DE66-FCBA678407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59" y="1556995"/>
            <a:ext cx="8856000" cy="29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78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C6D673C4-9F19-38B9-D442-C3043305E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AE4D9815-1669-A385-2A6E-0C399517A916}"/>
              </a:ext>
            </a:extLst>
          </p:cNvPr>
          <p:cNvSpPr/>
          <p:nvPr/>
        </p:nvSpPr>
        <p:spPr>
          <a:xfrm>
            <a:off x="1454351" y="234235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endParaRPr sz="3600" b="1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3DC9F98A-581F-8BB2-A214-DCFE65F28062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15000"/>
              </a:lnSpc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E4A80524-B164-9D26-E96F-9CDF4379C5B8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8662CFD8-ACFF-E0EA-E1DF-C3E7F5E5BAA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6FC56E0-1649-645B-623A-7716CFED1117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2FBD0A65-5567-AD54-5DFC-487B4BDC63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866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E8E32346-1AB7-6A66-F099-0B5AFE04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75781597-6B4C-C082-5684-9259C635462A}"/>
              </a:ext>
            </a:extLst>
          </p:cNvPr>
          <p:cNvSpPr/>
          <p:nvPr/>
        </p:nvSpPr>
        <p:spPr>
          <a:xfrm>
            <a:off x="1454351" y="234235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endParaRPr sz="3600" b="1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75343641-BBFD-96A7-7A55-C1310DE9BB42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15000"/>
              </a:lnSpc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64FF9863-364F-B7DC-A24C-7529CCAE9782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C3A2BD39-9E1E-D4BA-F2A3-FF0E7F98D66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37FBAFAC-E79F-CC76-2F5A-5BE3319630AD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A4542C9B-8A81-E1D3-804F-2F5F3D5B3B4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1630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4332452B-283E-8C9C-B9E2-1119E04FD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D80B37A1-85C3-165C-E6E4-2BA29FCE21BB}"/>
              </a:ext>
            </a:extLst>
          </p:cNvPr>
          <p:cNvSpPr/>
          <p:nvPr/>
        </p:nvSpPr>
        <p:spPr>
          <a:xfrm>
            <a:off x="1454351" y="234235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endParaRPr sz="3600" b="1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80F38FCE-B8DB-6D43-81C3-DBF0E1DFBE9A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15000"/>
              </a:lnSpc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8D325770-A932-8FDF-8E18-CDC2E7B3FF8B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7668AE16-280B-F2FA-CCE7-641E769557C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AAAF500-DC11-5C2E-EC33-D154224D5ADC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F4D58EDD-2C5C-4AD4-5D37-612B7C6A306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6203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38E99DD0-1133-B8C8-E927-6453634CC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5122928D-E8E2-5213-375A-B35AEB1CE49E}"/>
              </a:ext>
            </a:extLst>
          </p:cNvPr>
          <p:cNvSpPr/>
          <p:nvPr/>
        </p:nvSpPr>
        <p:spPr>
          <a:xfrm>
            <a:off x="1454351" y="234235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endParaRPr sz="3600" b="1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83A1C5F8-A89F-C0B7-1026-68072B2A7BAC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15000"/>
              </a:lnSpc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7720DCAE-9605-362F-8695-3AD47AC2D2E5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C0069CC0-6683-467C-4F6A-3E1EBAC4093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B4B29E9-0AA0-4B35-7798-76985D7AC339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7FBE5D93-8AC8-0F66-7BD6-65C37E0C5A7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7059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8A33CF53-5BF4-FFF1-4FA7-2D28975C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7FE5F2A7-9FDA-9397-38C9-CA43897CD495}"/>
              </a:ext>
            </a:extLst>
          </p:cNvPr>
          <p:cNvSpPr/>
          <p:nvPr/>
        </p:nvSpPr>
        <p:spPr>
          <a:xfrm>
            <a:off x="1454351" y="234235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endParaRPr sz="3600" b="1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954173EE-634A-8474-0383-F13C3C76D1E2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15000"/>
              </a:lnSpc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BB4766FF-1232-E029-80C8-27D8ABFBD329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63222335-C622-CBD8-A808-D88B6AEFEE8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BFD6CC2E-020C-0377-B871-134B2A5C99EB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FEE16911-8AF7-3763-5E6D-C8A107AF3E9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4122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590F370F-DE67-6C6C-F717-921C520B1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CEBBD366-976F-EB8D-62D5-330DD3F800BC}"/>
              </a:ext>
            </a:extLst>
          </p:cNvPr>
          <p:cNvSpPr/>
          <p:nvPr/>
        </p:nvSpPr>
        <p:spPr>
          <a:xfrm>
            <a:off x="1454351" y="234235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endParaRPr sz="3600" b="1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5480D814-B416-0708-2919-B676CA36E006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15000"/>
              </a:lnSpc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F5D0AB37-2A88-C71C-D9A1-0031115B4779}"/>
              </a:ext>
            </a:extLst>
          </p:cNvPr>
          <p:cNvSpPr/>
          <p:nvPr/>
        </p:nvSpPr>
        <p:spPr>
          <a:xfrm>
            <a:off x="100326" y="61557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EDD878ED-7FF0-EF0A-D1F9-3EE78359DD3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1" y="109472"/>
            <a:ext cx="700388" cy="8754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4B21DE68-3C22-3B48-75B8-5A1187027E92}"/>
              </a:ext>
            </a:extLst>
          </p:cNvPr>
          <p:cNvSpPr/>
          <p:nvPr/>
        </p:nvSpPr>
        <p:spPr>
          <a:xfrm>
            <a:off x="5100401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3BE1340F-307F-D765-3599-D578095AD3E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1" y="4530376"/>
            <a:ext cx="2771500" cy="378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281639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726</Words>
  <Application>Microsoft Office PowerPoint</Application>
  <PresentationFormat>On-screen Show (16:9)</PresentationFormat>
  <Paragraphs>72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ZIZIPHO MAMFENGU</cp:lastModifiedBy>
  <cp:revision>14</cp:revision>
  <dcterms:modified xsi:type="dcterms:W3CDTF">2025-10-08T21:03:47Z</dcterms:modified>
</cp:coreProperties>
</file>
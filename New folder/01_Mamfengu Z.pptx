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63" r:id="rId4"/>
    <p:sldId id="264" r:id="rId5"/>
    <p:sldId id="261" r:id="rId6"/>
    <p:sldId id="262" r:id="rId7"/>
    <p:sldId id="260" r:id="rId8"/>
    <p:sldId id="258" r:id="rId9"/>
    <p:sldId id="266" r:id="rId10"/>
    <p:sldId id="267" r:id="rId11"/>
    <p:sldId id="265" r:id="rId12"/>
    <p:sldId id="269" r:id="rId13"/>
    <p:sldId id="272" r:id="rId14"/>
    <p:sldId id="268" r:id="rId15"/>
    <p:sldId id="270" r:id="rId16"/>
    <p:sldId id="259" r:id="rId17"/>
    <p:sldId id="27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512F02-8048-8657-7E26-8143F5CC2E81}" name="Ntuthuko F. Masikane" initials="NM" userId="S::MasikaneN@unizulu.ac.za::6225bbde-e831-4c79-83b4-65c149a179e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ZIPHO MAMFENGU" initials="ZM" lastIdx="1" clrIdx="0">
    <p:extLst>
      <p:ext uri="{19B8F6BF-5375-455C-9EA6-DF929625EA0E}">
        <p15:presenceInfo xmlns:p15="http://schemas.microsoft.com/office/powerpoint/2012/main" userId="S::202067207@stu.unizulu.ac.za::ca909eff-9fe6-4687-81a1-c6a0609b31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78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125c01d8_0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52" name="Google Shape;52;g36c125c01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70CB28BA-1F00-0605-9212-E235DCD4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55543B5F-FC6D-8C2C-2170-F8892368E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3CCBFA30-F8F4-96CE-968B-01055B212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9782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645F0FD-E9A4-2ADB-29F8-5D36A310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E2B0A494-E1C9-B312-A0AC-4261792F2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98AF2E88-4AA0-995B-6ECB-5CDA6A478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5841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385C77F9-FC1E-D814-D302-113812B2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E2ADF2EB-300C-F055-8C17-ECAEADC4D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7E3EEBD2-BC4D-3380-5FB3-2891E85BA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5655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43F82E0-47E8-6CF4-0F56-BDA4DACC0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A07E82EE-FB5F-6A9C-AA4D-A3F564907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143D3CE0-276A-0CDE-7793-BE30C6F69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0234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B96E26EB-705E-F725-ED28-AE1092EA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EBC63AA2-2F3F-5B82-39FF-D801CBB39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89CF3B9F-397A-477C-8676-1DE8A8C93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924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7681EDD-23ED-B0CA-BE34-6F67967C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CE0891D4-DA68-A11E-255E-FC0303FE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dirty="0"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DB8F3BDF-BF9C-7F6D-6C76-8F814AEC9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7736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BC28B9F-8609-20A7-3C63-7EDAFCB4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8605D56E-269D-8AFA-70D0-B76719DF0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113C3C5F-DDEB-E8D2-0F93-CA5DA7D1F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5081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8F87063-7C0A-534D-C25E-7D1296FE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94952CFA-32DF-B2EB-A234-BE2593431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68C66F42-C32E-A85B-1615-DD4B14E2CC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2926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D95C8252-046E-D862-1C11-EFB3418C1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1C514E75-3B4C-92CF-4D48-93A860FAF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D3C919F8-D118-595E-DB25-197E33F5D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7801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94AFDF8-1F91-56A0-B6B9-EB22720C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746BDD9B-333D-5CE4-6EC9-538A8A8E4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2BCBDD5B-A181-08D4-9862-B40EBAFEB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5479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8E4490B-3E4D-94E2-24ED-1599389C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1E363182-CE0E-5C93-C7B6-5F3E793BE0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EF643F64-3CE9-2CAE-3C93-057174487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7723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7F33337-FCA3-EAF7-2514-FB9FAE96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4459FE1E-17BF-7C16-DC20-0642825BB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2C0629A5-FA05-2719-B6B6-DD47070DF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252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E6BD3F6-B6C2-4C98-C3F8-F18DE681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B62475D9-A8E1-11A7-E37D-25085FD9F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B95A8C7A-A8A9-BDB3-B76E-52B75D89C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1231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ECE073B-FEE0-E4AD-9B51-74D78FA7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22E043FB-7190-CE9A-CCD4-3BB495E15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53A49E86-B76E-B01B-172F-B88EE190B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5613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7F33337-FCA3-EAF7-2514-FB9FAE96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4459FE1E-17BF-7C16-DC20-0642825BB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2C0629A5-FA05-2719-B6B6-DD47070DF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6099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22.jpeg"/><Relationship Id="rId5" Type="http://schemas.openxmlformats.org/officeDocument/2006/relationships/image" Target="../media/image3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jp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27.pn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2300" y="856794"/>
            <a:ext cx="8279400" cy="2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</a:pPr>
            <a:endParaRPr sz="1180">
              <a:solidFill>
                <a:schemeClr val="dk1"/>
              </a:solidFill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0"/>
              <a:buFont typeface="Arial"/>
              <a:buNone/>
            </a:pPr>
            <a:endParaRPr sz="1240" i="1" baseline="30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909600" y="3096000"/>
            <a:ext cx="1324800" cy="114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University_of_Zululand_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79" y="2994540"/>
            <a:ext cx="914250" cy="11428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13" title="New_UNIZULU_Logo_Landscape-01-1024x446.png"/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6A952-7118-6667-CDD3-2D5EDCD76B31}"/>
              </a:ext>
            </a:extLst>
          </p:cNvPr>
          <p:cNvSpPr txBox="1"/>
          <p:nvPr/>
        </p:nvSpPr>
        <p:spPr>
          <a:xfrm>
            <a:off x="987552" y="482056"/>
            <a:ext cx="720547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1561AA"/>
                </a:solidFill>
              </a:rPr>
              <a:t>Abundance and Biomass of the Sand Prawn </a:t>
            </a:r>
            <a:r>
              <a:rPr lang="en-US" sz="2400" b="1" i="1" dirty="0">
                <a:solidFill>
                  <a:srgbClr val="1561AA"/>
                </a:solidFill>
              </a:rPr>
              <a:t>Kraussillichirus kraussi</a:t>
            </a:r>
            <a:r>
              <a:rPr lang="en-US" sz="2400" b="1" dirty="0">
                <a:solidFill>
                  <a:srgbClr val="1561AA"/>
                </a:solidFill>
              </a:rPr>
              <a:t> in Richards Bay Harbour.</a:t>
            </a:r>
          </a:p>
          <a:p>
            <a:pPr algn="ctr"/>
            <a:endParaRPr lang="en-US" sz="1000" b="1" dirty="0">
              <a:solidFill>
                <a:srgbClr val="1561AA"/>
              </a:solidFill>
            </a:endParaRPr>
          </a:p>
          <a:p>
            <a:pPr algn="ctr"/>
            <a:r>
              <a:rPr lang="en-US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Zizipho</a:t>
            </a: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Mamfengu</a:t>
            </a:r>
            <a:r>
              <a:rPr lang="en-US" sz="10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Lungelo Nsibande</a:t>
            </a:r>
            <a:r>
              <a:rPr lang="en-US" sz="10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Ntuthuko Masikane</a:t>
            </a:r>
            <a:r>
              <a:rPr lang="en-US" sz="10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</a:t>
            </a:r>
          </a:p>
          <a:p>
            <a:pPr algn="ctr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b="1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Zoology, University of Zululand, 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KwaDlangezwa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3886, South Africa</a:t>
            </a:r>
          </a:p>
          <a:p>
            <a:pPr algn="ctr"/>
            <a:r>
              <a:rPr lang="en-US" sz="1000" b="1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African Institute for Aquatic Biodiversity, 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Makhanda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South Africa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0D694F-8687-31A1-97FA-C05E556EA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563" y="595628"/>
            <a:ext cx="1371599" cy="848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DC864-5ED9-5781-377D-3D8F3821AB4A}"/>
              </a:ext>
            </a:extLst>
          </p:cNvPr>
          <p:cNvSpPr txBox="1"/>
          <p:nvPr/>
        </p:nvSpPr>
        <p:spPr>
          <a:xfrm>
            <a:off x="2422113" y="2771323"/>
            <a:ext cx="5095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 study on estuarine health indicators in a subtropical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harbour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/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B5930F-1CA0-AC7F-F0E2-3FD8DD721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4125DC17-825A-19A4-FCBB-5AAEFDC86F69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Introduction.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9E6DF-6EA9-26A4-0B3F-FF5EB89D2D53}"/>
              </a:ext>
            </a:extLst>
          </p:cNvPr>
          <p:cNvSpPr txBox="1"/>
          <p:nvPr/>
        </p:nvSpPr>
        <p:spPr>
          <a:xfrm>
            <a:off x="194251" y="1232757"/>
            <a:ext cx="82976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1561AA"/>
                </a:solidFill>
              </a:rPr>
              <a:t>Kraussillichirus kraussi </a:t>
            </a:r>
            <a:r>
              <a:rPr lang="en-US" sz="1600" b="1" dirty="0">
                <a:solidFill>
                  <a:srgbClr val="1561AA"/>
                </a:solidFill>
              </a:rPr>
              <a:t>description.</a:t>
            </a:r>
            <a:endParaRPr lang="en-US" b="1" dirty="0">
              <a:solidFill>
                <a:srgbClr val="1561AA"/>
              </a:solidFill>
            </a:endParaRPr>
          </a:p>
          <a:p>
            <a:endParaRPr lang="en-US" sz="1200" dirty="0">
              <a:solidFill>
                <a:schemeClr val="accent2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accent2"/>
                </a:solidFill>
              </a:rPr>
              <a:t>Kraussillichirus </a:t>
            </a:r>
            <a:r>
              <a:rPr lang="en-US" sz="1200" i="1" dirty="0"/>
              <a:t>kraussi</a:t>
            </a:r>
            <a:r>
              <a:rPr lang="en-US" sz="1200" dirty="0"/>
              <a:t> is a small burrowing sand prawn which ranges from 10 to 60 mm in body length.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is classified as an endobenthic organism that burrows in estuarine sediments.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plays an important role in estuarine ecosystems (e.g., aerates sediments, enhances nutrient recycling).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F3A5C-7EFF-1E4F-A043-3603E341D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7981" y="2808236"/>
            <a:ext cx="1764000" cy="176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0E156C-3BF8-C37D-C828-E8954397F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885" y="3074469"/>
            <a:ext cx="2124000" cy="1335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66B17D-FB6E-8523-6DC7-DB55B616C9A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656" t="12606" r="2142" b="24194"/>
          <a:stretch>
            <a:fillRect/>
          </a:stretch>
        </p:blipFill>
        <p:spPr>
          <a:xfrm>
            <a:off x="5725050" y="2827978"/>
            <a:ext cx="1800000" cy="16274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9EADCF61-16DC-D9F0-2D25-4BD1F6F4A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C3291B28-45E6-6DDB-D157-A2A98C732042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4AA6E396-3C7D-C724-1D49-4432528F3ECC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FA86EB9F-C5C7-5313-13A3-5358C397D046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06ADEBAC-8A57-7D5D-C4B1-B4FDD57471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1795D71-F561-E6FD-2F49-65B66EA2B752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B1CCD026-2389-1F3E-7C50-8594129D682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FB8A54-43F2-B683-C9C2-4423E3EE4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B43408E1-42CE-B784-9DC3-802EB439FF00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Introduction.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C8DFB-B1AE-F26D-D31A-8AF5D5B79507}"/>
              </a:ext>
            </a:extLst>
          </p:cNvPr>
          <p:cNvSpPr txBox="1"/>
          <p:nvPr/>
        </p:nvSpPr>
        <p:spPr>
          <a:xfrm>
            <a:off x="194251" y="1232757"/>
            <a:ext cx="33604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Previous Studies.</a:t>
            </a:r>
          </a:p>
          <a:p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Temperature: High or low extremes reduce growth.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Salinity: Very high or low salinity decreases abundance.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Dissolved oxygen: Low oxygen limits survival, high oxygen allows active burrowing and promotes higher biomass.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Estuary type: Permanently open estuaries favor stable populations.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561AA"/>
              </a:solidFill>
            </a:endParaRPr>
          </a:p>
          <a:p>
            <a:endParaRPr lang="en-US" sz="11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B9701-983F-E0D1-6385-86A4B4F489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3218" y="1133916"/>
            <a:ext cx="4327883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8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0CC56F79-D64F-694B-A6F5-10E07579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2443089A-F601-9F92-9FFE-BE364D9B487C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E4AB8185-09DD-4149-0BCA-08072BDB9F44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BBFA443C-41F4-C35D-783A-9909BC433059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B4B59C8E-F60F-1B54-CA79-9F6040D0954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723D8C4B-B8EF-7CC1-D144-F34170775236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70C7923-A1EB-810F-ACA2-1E083680EF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C92295-6A0E-58EF-C03A-7872F1195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C80F1906-D2D3-C43B-5082-0048550CC6C8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Problem statement.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FFC4C-CB95-BABE-6F9C-8B860FD96EFA}"/>
              </a:ext>
            </a:extLst>
          </p:cNvPr>
          <p:cNvSpPr txBox="1"/>
          <p:nvPr/>
        </p:nvSpPr>
        <p:spPr>
          <a:xfrm>
            <a:off x="194251" y="1232757"/>
            <a:ext cx="2700000" cy="13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Sand prawns as ecosystem engineers.</a:t>
            </a:r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Sand prawns are ecologically and recreationally important.</a:t>
            </a:r>
            <a:endParaRPr lang="en-US" sz="1200" b="1" dirty="0">
              <a:solidFill>
                <a:srgbClr val="1561A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5FCD5-9AA6-0042-B6D1-C3126ED91BFA}"/>
              </a:ext>
            </a:extLst>
          </p:cNvPr>
          <p:cNvSpPr txBox="1"/>
          <p:nvPr/>
        </p:nvSpPr>
        <p:spPr>
          <a:xfrm>
            <a:off x="3068200" y="1232757"/>
            <a:ext cx="2700000" cy="1708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Anthropogenic impacts on sand prawns.</a:t>
            </a:r>
            <a:endParaRPr lang="en-US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Industrial pollution threatens their estuarine habitats.</a:t>
            </a:r>
          </a:p>
          <a:p>
            <a:pPr algn="just">
              <a:lnSpc>
                <a:spcPct val="150000"/>
              </a:lnSpc>
            </a:pPr>
            <a:endParaRPr lang="en-US" sz="1600" b="1" dirty="0">
              <a:solidFill>
                <a:srgbClr val="1561A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4A0FD-1896-BB03-D6E2-A8016FD1A38C}"/>
              </a:ext>
            </a:extLst>
          </p:cNvPr>
          <p:cNvSpPr txBox="1"/>
          <p:nvPr/>
        </p:nvSpPr>
        <p:spPr>
          <a:xfrm>
            <a:off x="5947300" y="1232756"/>
            <a:ext cx="2700000" cy="1904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Limited data on sand prawns.</a:t>
            </a:r>
            <a:endParaRPr lang="en-US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Little is known about their abundance and biomass, yet these parameters can cost-effectively indicate habitat health.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CCA31E-F156-E782-A89C-89E69FDB7C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529" y="3068206"/>
            <a:ext cx="2592380" cy="147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A0D2B1-46DA-966C-F264-EE89167008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25" y="3045817"/>
            <a:ext cx="1944000" cy="1456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DD8942-ED29-477E-2976-CE05B124CF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1088" y="3026278"/>
            <a:ext cx="3473172" cy="14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6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AB860045-D250-B06D-DA6D-C473983D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1543DC0D-969B-5416-7811-EB7D232643F3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F6BCCDA2-72EC-563D-A48A-98952B2C6322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34C7E7C9-FB75-E75A-C187-35133E38616F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91FD6BD5-D2E5-ABC1-13BF-B63D984495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CEC805B0-85CC-060B-5714-5C01930D963C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AACA87C2-A396-645C-D3C3-A88A417360F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78EB04-22C9-1F84-685B-6A544AA4BA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B08BE8C4-2C46-0FB3-715B-5BDD6B709E74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Aim &amp; Objectives.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984D23-EFA6-F878-8EAB-D6F98695679E}"/>
              </a:ext>
            </a:extLst>
          </p:cNvPr>
          <p:cNvSpPr txBox="1"/>
          <p:nvPr/>
        </p:nvSpPr>
        <p:spPr>
          <a:xfrm>
            <a:off x="194251" y="1232757"/>
            <a:ext cx="8744186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Aim.</a:t>
            </a:r>
            <a:endParaRPr lang="en-US" sz="1500" b="1" dirty="0">
              <a:solidFill>
                <a:srgbClr val="1561AA"/>
              </a:solidFill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12121"/>
                </a:solidFill>
              </a:rPr>
              <a:t>Assess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the abundance and biomass relationship of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Kraussillichirus kraussi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 Richards Bay Harbour.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1561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algn="just">
              <a:lnSpc>
                <a:spcPct val="150000"/>
              </a:lnSpc>
            </a:pPr>
            <a:endParaRPr lang="en-US" sz="1500" b="1" dirty="0">
              <a:solidFill>
                <a:srgbClr val="1561AA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Objectives.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Quantify the abundance and biomass of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Kraussillichirus kraussi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at selected sites.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Define the abundance-biomass relationship over time (i.e., using regression).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Assess environmental stress using the abundance-biomass relationship (i.e., ABC curves). </a:t>
            </a:r>
            <a:endParaRPr lang="en-US" b="1" dirty="0">
              <a:solidFill>
                <a:srgbClr val="1561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61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9DC1816D-1C7E-B72A-6E7B-7435ACD3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25EFDB01-849D-F785-4F9C-9900EF5B48B9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9CAAA0C-82A2-AB85-FF69-34A15A991AB1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029C4378-36C6-ABFA-72E0-4E6EB3760706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1916DD45-F0FF-EED6-650E-C77F48D1271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487F8958-EDB9-8186-2C6D-77552F69DE10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0091947C-F785-7B0E-375A-5C4F4F3048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2236B0-A286-170B-5861-1954FD5E1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DCE51580-0892-2612-05BF-FEB98376682A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&amp; Methods.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B403F-14EF-665B-B7C0-FDCD58F67811}"/>
              </a:ext>
            </a:extLst>
          </p:cNvPr>
          <p:cNvSpPr txBox="1"/>
          <p:nvPr/>
        </p:nvSpPr>
        <p:spPr>
          <a:xfrm>
            <a:off x="194251" y="1232757"/>
            <a:ext cx="3620807" cy="2089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Study Area.</a:t>
            </a:r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Richards Bay Harbour (28</a:t>
            </a:r>
            <a:r>
              <a:rPr lang="pt-BR" sz="1200" dirty="0"/>
              <a:t>°48′ S, </a:t>
            </a:r>
            <a:r>
              <a:rPr lang="en-US" sz="1200" dirty="0"/>
              <a:t>32.</a:t>
            </a:r>
            <a:r>
              <a:rPr lang="pt-BR" sz="1200" dirty="0"/>
              <a:t>°04′ E</a:t>
            </a:r>
            <a:r>
              <a:rPr lang="en-US" sz="1200" dirty="0"/>
              <a:t>) is a subtropical estuarine bay in KwaZulu-Natal.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is one of South Africa’s largest and busiest deep-water ports, used for exporting coal and is popular for recreational fishing.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dirty="0" err="1"/>
              <a:t>harbour</a:t>
            </a:r>
            <a:r>
              <a:rPr lang="en-US" sz="1200" dirty="0"/>
              <a:t> is earmarked for expansion.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7D7A50-5D86-9255-B78D-7D08B4A4E9D6}"/>
              </a:ext>
            </a:extLst>
          </p:cNvPr>
          <p:cNvGrpSpPr>
            <a:grpSpLocks noChangeAspect="1"/>
          </p:cNvGrpSpPr>
          <p:nvPr/>
        </p:nvGrpSpPr>
        <p:grpSpPr>
          <a:xfrm>
            <a:off x="3815058" y="1095841"/>
            <a:ext cx="4876042" cy="3240000"/>
            <a:chOff x="3498274" y="838200"/>
            <a:chExt cx="5451476" cy="36619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EB6D8A3-30ED-B7C9-65FD-DF0F026BFC2A}"/>
                </a:ext>
              </a:extLst>
            </p:cNvPr>
            <p:cNvGrpSpPr/>
            <p:nvPr/>
          </p:nvGrpSpPr>
          <p:grpSpPr>
            <a:xfrm>
              <a:off x="3498274" y="838200"/>
              <a:ext cx="5451476" cy="3661936"/>
              <a:chOff x="3886258" y="1260136"/>
              <a:chExt cx="5063491" cy="32400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33D5388-E174-9761-4955-CA2B97F83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86258" y="1260136"/>
                <a:ext cx="5063491" cy="32400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DF0B06D-CA93-C11C-D40E-70DFA3B07A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86258" y="1292148"/>
                <a:ext cx="1872119" cy="1146672"/>
              </a:xfrm>
              <a:prstGeom prst="rect">
                <a:avLst/>
              </a:prstGeom>
            </p:spPr>
          </p:pic>
          <p:sp>
            <p:nvSpPr>
              <p:cNvPr id="12" name="Flowchart: Connector 11">
                <a:extLst>
                  <a:ext uri="{FF2B5EF4-FFF2-40B4-BE49-F238E27FC236}">
                    <a16:creationId xmlns:a16="http://schemas.microsoft.com/office/drawing/2014/main" id="{3E95A07C-43F7-4585-B4F2-6F16E28C520D}"/>
                  </a:ext>
                </a:extLst>
              </p:cNvPr>
              <p:cNvSpPr/>
              <p:nvPr/>
            </p:nvSpPr>
            <p:spPr>
              <a:xfrm>
                <a:off x="5312237" y="1854291"/>
                <a:ext cx="207818" cy="207818"/>
              </a:xfrm>
              <a:prstGeom prst="flowChartConnector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601849-1DEF-8E87-240C-7368C3158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81124" y="1777459"/>
              <a:ext cx="1158340" cy="107298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1DBE07E-0424-0C20-1139-867D91095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62358" y="2905773"/>
              <a:ext cx="1158340" cy="107298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663384-AA2B-57DF-F821-227F8E45D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22784" y="2775103"/>
              <a:ext cx="1158340" cy="1072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121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5A582E7E-D123-01A9-E3A9-B89A45F7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9874C9DE-D410-5EAF-49F5-75A0CF83FF49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25021C6E-5B84-B2B2-4A56-91520311D9CF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547A0ECF-50C4-423B-2655-1C4BBDADACC0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7D4FC794-6C3B-8F17-AA26-F9C09CCB06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6D6CBE6E-6158-711E-4974-664132D5B6DE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DF429CC4-D18B-55E6-2AF4-A7D80F07E5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2C6D3B-7B11-F97B-842C-DD297EA5D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5058BC6B-DC74-667D-585D-D5F2030465C9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&amp; Methods.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F9D51-6268-4A3E-DD64-F5EFAD7CF5A8}"/>
              </a:ext>
            </a:extLst>
          </p:cNvPr>
          <p:cNvSpPr txBox="1"/>
          <p:nvPr/>
        </p:nvSpPr>
        <p:spPr>
          <a:xfrm>
            <a:off x="194251" y="1232757"/>
            <a:ext cx="856697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Field trip.</a:t>
            </a:r>
            <a:endParaRPr lang="en-US" sz="1600" dirty="0">
              <a:solidFill>
                <a:schemeClr val="accent2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Sand prawns were collected using a prawn pump from triplicate quadrats (area: 1 m</a:t>
            </a:r>
            <a:r>
              <a:rPr lang="en-GB" sz="1200" baseline="30000" dirty="0"/>
              <a:t>2</a:t>
            </a:r>
            <a:r>
              <a:rPr lang="en-GB" sz="1200" dirty="0"/>
              <a:t>) at three sites over 4 months.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Prawn collection was standardised across quadrats (i.e., 10 random pumps per quadrat).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  <a:p>
            <a:endParaRPr lang="en-US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C672ED-A6AA-E803-4750-8B15452F8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899" y="2544219"/>
            <a:ext cx="1422820" cy="14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ACCD7C-F44D-4B55-A5AE-BF4546DE2D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0168" y="2544219"/>
            <a:ext cx="589256" cy="144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79FA8E-EB3E-68D2-ACDC-C3652FE2F3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9901" y="2544219"/>
            <a:ext cx="2010500" cy="144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BE5C45-54E3-8D1C-78ED-4EFE4F69FB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1790" y="2544219"/>
            <a:ext cx="1082580" cy="144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F7426C-B424-2EB8-C81D-0B106B2339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6436" y="2544219"/>
            <a:ext cx="108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0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A797FBAE-8EA9-F6FF-288B-76110CA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6B884A95-EA9A-5416-4DAD-37EE3D337BDA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 dirty="0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6812037-1107-B7FD-D7C4-DD4D5A22FC3D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B0680D75-75D9-DE4C-2A08-29EC33EC714A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8DBD6ED3-3E50-FD94-61E1-867A1B2F7F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19D6947B-C157-5E04-A7F0-A80B79EC0208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C61D851C-A43F-F957-AC65-4C528FBE55C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70BD42-69BE-7428-1E62-173BECC9C1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D3E200DB-02C0-B201-C6C2-DA3326ABDD63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&amp; Methods.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F210B-925B-F0C9-09A8-0CA3BD4EC925}"/>
              </a:ext>
            </a:extLst>
          </p:cNvPr>
          <p:cNvSpPr txBox="1"/>
          <p:nvPr/>
        </p:nvSpPr>
        <p:spPr>
          <a:xfrm>
            <a:off x="194251" y="1232757"/>
            <a:ext cx="3831944" cy="172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rgbClr val="1561AA"/>
                </a:solidFill>
              </a:rPr>
              <a:t>Abundance and biomass estimation.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Abundance estimation: prawn counts (averaged over 3 quadrats per site, expressed as density).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 Biomass estimated from dry weight.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Carapace and total length measured using a vernier calliper</a:t>
            </a:r>
            <a:r>
              <a:rPr lang="en-GB" dirty="0"/>
              <a:t>.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360696-9E03-BE13-A7A6-F251D01F0D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24" y="2962526"/>
            <a:ext cx="1190001" cy="12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B7F534-6BE9-E8FB-79EE-7A58DB9730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3903" y="2981613"/>
            <a:ext cx="1271698" cy="126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F2F989-9645-8616-0B73-E3A8BF00E1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1524" y="3003910"/>
            <a:ext cx="1257078" cy="126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7C7315-A1BD-0C2E-EF4F-6D4AED81E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0657" y="2962526"/>
            <a:ext cx="1678233" cy="12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4CD33C-EA61-A9D1-F0E4-D684E7B02C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043" y="2981613"/>
            <a:ext cx="1044232" cy="126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C37E6F-A89F-AE29-A5C6-FD8975E18D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2924" y="2981613"/>
            <a:ext cx="1001613" cy="126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9947BD-05AE-B9E6-9CCB-0374B1DFD7F5}"/>
              </a:ext>
            </a:extLst>
          </p:cNvPr>
          <p:cNvSpPr txBox="1"/>
          <p:nvPr/>
        </p:nvSpPr>
        <p:spPr>
          <a:xfrm>
            <a:off x="4283410" y="1232757"/>
            <a:ext cx="4572000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rgbClr val="1561AA"/>
                </a:solidFill>
              </a:rPr>
              <a:t>Grain size and Total Organic Content.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Triplicate sediment samples were also collected for the analyses of grain size (dry sieving method) and TOC (loss on ignition method).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C7471A-79EF-EC69-2585-93753DA177EB}"/>
              </a:ext>
            </a:extLst>
          </p:cNvPr>
          <p:cNvSpPr txBox="1"/>
          <p:nvPr/>
        </p:nvSpPr>
        <p:spPr>
          <a:xfrm>
            <a:off x="100324" y="4275771"/>
            <a:ext cx="84530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analysis and visualization were performed using Programming Language (Python) and </a:t>
            </a:r>
            <a:r>
              <a:rPr lang="en-US" dirty="0" err="1"/>
              <a:t>Gradistat</a:t>
            </a:r>
            <a:r>
              <a:rPr lang="en-US" dirty="0"/>
              <a:t> v8.</a:t>
            </a:r>
          </a:p>
        </p:txBody>
      </p:sp>
    </p:spTree>
    <p:extLst>
      <p:ext uri="{BB962C8B-B14F-4D97-AF65-F5344CB8AC3E}">
        <p14:creationId xmlns:p14="http://schemas.microsoft.com/office/powerpoint/2010/main" val="181473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9AEFA2A7-279D-7ACF-2B23-16841418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D8A25852-3DD8-6067-681F-A26B322EF44C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BFFE9A12-A8B6-F200-E972-9C4573FEBF08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60CF6E32-79FB-D826-7225-EDF3B1BF39B2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52921579-4EDD-FA8C-31B1-97EDC67B86D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21205126-DA3D-BD39-B298-55DBFD622CC2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0E8D1649-2E25-178A-9FD7-484BE6D533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D0E4C9-124B-4941-D9DC-0E16ACE3C7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648809F7-B8F8-AF9F-09AD-25C693D2E91A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D5714-4D13-7FA4-E8EF-25EBCB432794}"/>
              </a:ext>
            </a:extLst>
          </p:cNvPr>
          <p:cNvSpPr txBox="1"/>
          <p:nvPr/>
        </p:nvSpPr>
        <p:spPr>
          <a:xfrm>
            <a:off x="194251" y="1110297"/>
            <a:ext cx="3849350" cy="366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Abundance and Biomass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/>
              <a:t>Kraussillichirus kraussi</a:t>
            </a:r>
            <a:r>
              <a:rPr lang="en-US" sz="1200" dirty="0"/>
              <a:t> abundance and biomass peaked in June, indicating a possible recruitment period.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A abundance showed the highest variability, while Site B remained low but stable across months.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Biomass and abundance were positively correlated.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July decline and September recovery suggest environmental influences and population resilience.</a:t>
            </a: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E5FB4-451E-FA0B-596F-CEE65E3D5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086" y="871325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2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81F3D3E7-E57D-4E85-2462-0A8B8EBA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9737A068-6962-AC54-2A70-5E92C5486EE1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5AB72863-80A8-BA06-1CC5-714A7AF07BCC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D8748565-1AA0-6D8D-8D98-DB08C48BE0FD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F43493E8-2D54-10E2-45F4-E46BC478D3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F72A0988-B968-2668-87E0-BA335561E4CB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BFD4CA72-0671-A1FB-4669-C4F5FB5C71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CF178-5C33-ADDF-8ED1-BE8CF3A00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A3A81A22-F102-B094-81F6-3A3EAAA51CCD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7DEF-3D54-E5F6-B7DA-21E8C7A4520C}"/>
              </a:ext>
            </a:extLst>
          </p:cNvPr>
          <p:cNvSpPr txBox="1"/>
          <p:nvPr/>
        </p:nvSpPr>
        <p:spPr>
          <a:xfrm>
            <a:off x="194251" y="1232757"/>
            <a:ext cx="355043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Abundance-Biomass Comparison.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Abundance-Biomass Comparison curves showed that Sites A and B had higher biomass relative to abundance, indicating low disturbance.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C had higher abundance than biomass, suggesting severe disturbance.  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This may be due to overharvesting of prawns for bait, potential sediment contamination or recreational activities. Site C is situated on Pelican Island, a popular recreational destination.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4FA083-0243-7305-A266-34904651D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927" y="951583"/>
            <a:ext cx="4608000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18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27F07355-D625-D36E-75FC-20A1B9CF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E780D801-3465-5B2A-EE3D-402D2FAFECA9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6C667C8C-7FEB-05A3-D2A8-D252A82C0D27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E6E8CB74-799F-01EB-1C29-E25FE3AC4D9A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3E0FB2CC-FF8A-43D1-2737-8D5F8BBBDAC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167D44F-053E-8BFE-E862-CEADDBBC42B4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169F1520-9530-BE7C-84F7-A410EE97BA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787AC8-B5AB-4194-09F1-EFE6A38D4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8372DA14-4894-E810-9C30-75FC29A8719E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9B349-51A6-C170-5978-B08F9DCFB75E}"/>
              </a:ext>
            </a:extLst>
          </p:cNvPr>
          <p:cNvSpPr txBox="1"/>
          <p:nvPr/>
        </p:nvSpPr>
        <p:spPr>
          <a:xfrm>
            <a:off x="194251" y="1232757"/>
            <a:ext cx="84530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Sediment Characteristics in relation to population patterns by medium and fine sand.</a:t>
            </a:r>
            <a:endParaRPr lang="en-US" b="1" dirty="0">
              <a:solidFill>
                <a:srgbClr val="1561AA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Sites with fine to medium sand (like Site B) better support biomass, while sites with coarse or mixed sediment (like Site A and C) show signs of stress or instability. 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4CA62-2C7F-D734-C451-7FCD631CD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100" y="2058375"/>
            <a:ext cx="7416000" cy="24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63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4CA1F49A-30E3-A2FA-E097-1B698AA4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9457AD93-0F45-1895-23B3-655F72CA9EA3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D7FE7B7A-E102-286A-3E8A-37AD5108AFB7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6A0DA14E-BBB8-8F2C-CA3D-D63CB99A0A80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7F8E6E65-4DA2-75BC-790A-E44CA7D82C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1B96AC1A-C5B6-BA96-FF0A-3C27221FF825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28CB1643-70E6-BC79-5D3C-A8801EA72FF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6DC51B-EFE7-6FED-694B-D1548C75F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967C58A3-CFC7-B6BF-FD54-54EA07B61754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7AA5B-8A96-EBF7-6224-17DE0A8943F1}"/>
              </a:ext>
            </a:extLst>
          </p:cNvPr>
          <p:cNvSpPr txBox="1"/>
          <p:nvPr/>
        </p:nvSpPr>
        <p:spPr>
          <a:xfrm>
            <a:off x="194251" y="1232757"/>
            <a:ext cx="352866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Total Organic Content(%)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TOC varied both spatially and seasonally across sites.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B showed the highest TOC, suggesting greater organic accumulation in finer sediments.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Sites A and C had lower TOC, indicating better sediment oxygenation and coarser texture.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Overall TOC peaked in June–July and declined by September, reflecting seasonal organic input and decomposition patterns.</a:t>
            </a:r>
            <a:endParaRPr lang="en-US" sz="12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4FC78-2746-64C7-EFFE-796CCCFEAC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1017" y="930375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4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89BEBDC4-DD69-61CD-806D-FD2FE55C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A5C5F461-71DC-3480-165F-C3E7FA0FF860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4C485280-B4E2-4CD8-4482-056E1FBE637E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D01B39E2-BD9D-40CC-9AD0-0F75CC117487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12B86471-D6D9-F393-159B-3401313C2F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9CB7BF-3306-0BC2-619E-05AE03746368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E3C1455D-2677-E124-8C8E-1F8BB3956DF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2E6BC6-E614-9C5B-1095-876E8A6C0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E292D791-56EB-E091-7A86-EEED59B5014E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822CD-A7DD-4C6B-1545-90BE9386B487}"/>
              </a:ext>
            </a:extLst>
          </p:cNvPr>
          <p:cNvSpPr txBox="1"/>
          <p:nvPr/>
        </p:nvSpPr>
        <p:spPr>
          <a:xfrm>
            <a:off x="194251" y="1232757"/>
            <a:ext cx="371045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Modeling Abundance- Biomass Patterns Using Regression Approaches.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relationship between abundance and biomass was examined using linear, polynomial and Random Forest models.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There was a positive linear relationship between abundance and biomass.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 The abundance and biomass relationship can be used as a quick and cost-effective tool for assessing ecosystem health in Richards Bay Harbour.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68F025-C97C-66CA-9AC9-4E310CC5C5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7145" y="888991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69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FD6040D3-8129-EB17-DBC8-BE9CBE57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40168980-89E9-4972-BD62-68EB10970DBF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F6E5929-81DA-EFBD-A37D-0B2B58A20764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45FDCC3A-02AB-5D27-96E2-D4E6EB478148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6843D03B-ABBD-4B25-3707-BE417FCDA0E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664978B-4C05-FA0B-443F-C11A04DBD5AB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2E177944-973D-429E-1C06-4FB5EED86C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9DA9FF-D8E0-D497-5B59-CBE28C22D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7BE0B2B9-E40D-4CA8-1EEE-59DECAD7EA39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Conclusion.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24E77-2741-AAE2-493F-848E3FA9EA43}"/>
              </a:ext>
            </a:extLst>
          </p:cNvPr>
          <p:cNvSpPr txBox="1"/>
          <p:nvPr/>
        </p:nvSpPr>
        <p:spPr>
          <a:xfrm>
            <a:off x="194251" y="1232757"/>
            <a:ext cx="845304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/>
              <a:t>Kraussillichirus kraussi</a:t>
            </a:r>
            <a:r>
              <a:rPr lang="en-US" sz="1200" dirty="0"/>
              <a:t> abundance and biomass patterns reflect temporal and spatial variability in Richards Bay Harbour.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Peak values in June suggest a recruitment period, while the July dip and September recovery highlight environmental stress and resilience.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A showed high variability, Site B remained stable with high TOC% and Site C indicated disturbance likely due to recreational activity and sediment degradation.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ABC curves and regression models confirmed a positive correlation between abundance and biomass, validating their use as a cost-effective indicator of estuarine health.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Sediment texture and organic content are important drivers of prawn distribution, </a:t>
            </a:r>
            <a:r>
              <a:rPr lang="en-US" sz="1200" dirty="0" err="1"/>
              <a:t>emphasising</a:t>
            </a:r>
            <a:r>
              <a:rPr lang="en-US" sz="1200" dirty="0"/>
              <a:t> the need for sustainable habitat management amid industrial and recreational pressures.</a:t>
            </a:r>
            <a:endParaRPr lang="en-US" sz="12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397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67D28911-EA6F-4184-D2DB-1ECCF4ED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69DE9A86-0CF5-9781-C2D0-44D94987A73E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A99F6883-AE7C-D770-7B57-1906B18227ED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BE2936E-30F0-35AF-03B4-EE0E6789083E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B1143D20-E97D-CDCF-1EEA-7881025AAB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6690B988-12DB-EA37-8855-7B778B059DB0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5DFF5A3-4BD8-78CB-C135-1B489E2056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BC44A8-FC57-A21F-49D9-017815092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3238146B-B0A2-63F7-026C-26E79E5392B9}"/>
              </a:ext>
            </a:extLst>
          </p:cNvPr>
          <p:cNvSpPr/>
          <p:nvPr/>
        </p:nvSpPr>
        <p:spPr>
          <a:xfrm>
            <a:off x="2041827" y="281025"/>
            <a:ext cx="5361048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Summary of Key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35D1D-A88C-ABE6-98ED-CCCC13E661CC}"/>
              </a:ext>
            </a:extLst>
          </p:cNvPr>
          <p:cNvSpPr txBox="1"/>
          <p:nvPr/>
        </p:nvSpPr>
        <p:spPr>
          <a:xfrm>
            <a:off x="194250" y="1232757"/>
            <a:ext cx="4056663" cy="1597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Population insights.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Peak abundance and biomass in June – likely recruitment period.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Site A: High variability, Site B: Stable, high TOC and Site C: Disturbed (recreational pressure).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17BEF-8006-7EE3-8092-647348569E80}"/>
              </a:ext>
            </a:extLst>
          </p:cNvPr>
          <p:cNvSpPr txBox="1"/>
          <p:nvPr/>
        </p:nvSpPr>
        <p:spPr>
          <a:xfrm>
            <a:off x="227059" y="2851261"/>
            <a:ext cx="4184397" cy="1643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Population insights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Positive correlation confirmed by regression models.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ABC curves: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Site A and B – Low disturbance.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Site C – High disturbance.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E6A4B-47D1-8B9D-390E-DFE590E8816C}"/>
              </a:ext>
            </a:extLst>
          </p:cNvPr>
          <p:cNvSpPr txBox="1"/>
          <p:nvPr/>
        </p:nvSpPr>
        <p:spPr>
          <a:xfrm>
            <a:off x="4893089" y="2817541"/>
            <a:ext cx="4184397" cy="1597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Sediment &amp; Organic Content.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Sand prawns are ecosystem engineers and bioindicators.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Monitoring abundance and biomass is cost-effective.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Supports sustainable estuarine management.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E93F2-35B7-84E2-EBD3-930156E99C0D}"/>
              </a:ext>
            </a:extLst>
          </p:cNvPr>
          <p:cNvSpPr txBox="1"/>
          <p:nvPr/>
        </p:nvSpPr>
        <p:spPr>
          <a:xfrm>
            <a:off x="4893089" y="1232757"/>
            <a:ext cx="4184397" cy="1320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Sediment &amp; Organic Content.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Fine-medium sand supports biomass.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 TOC linked to stable populations.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Coarse/mixed sediment – signs of stress.</a:t>
            </a:r>
          </a:p>
        </p:txBody>
      </p:sp>
    </p:spTree>
    <p:extLst>
      <p:ext uri="{BB962C8B-B14F-4D97-AF65-F5344CB8AC3E}">
        <p14:creationId xmlns:p14="http://schemas.microsoft.com/office/powerpoint/2010/main" val="1229658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A72A1983-29EB-CF63-2AA1-3A4F9EDF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5EDB8E23-BD95-C22C-FC28-5699FB8FCC13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376BE11A-5CFB-0D01-C2A7-A1C88794994C}"/>
              </a:ext>
            </a:extLst>
          </p:cNvPr>
          <p:cNvSpPr/>
          <p:nvPr/>
        </p:nvSpPr>
        <p:spPr>
          <a:xfrm>
            <a:off x="180753" y="1019125"/>
            <a:ext cx="8466547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D2997651-FF1B-7199-26A4-FA947DFF1C67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94AA164A-C48F-5EA7-CCD9-B3780D57B28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D6B718F8-8413-55B4-C9D5-7023B286FD8E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4C55031-AF89-F8EA-A1B7-72037E95E9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1C8FB0-6604-D8C4-7BD2-F46245E2F1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224EC0C4-CCEB-699A-D53A-8BEA758EBF7C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References.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C3700-F71A-2ABB-49A1-8CFB4F2C29DC}"/>
              </a:ext>
            </a:extLst>
          </p:cNvPr>
          <p:cNvSpPr txBox="1"/>
          <p:nvPr/>
        </p:nvSpPr>
        <p:spPr>
          <a:xfrm>
            <a:off x="172986" y="956311"/>
            <a:ext cx="89710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Yekani</a:t>
            </a:r>
            <a:r>
              <a:rPr lang="en-US" sz="1000" dirty="0"/>
              <a:t>, C. and </a:t>
            </a:r>
            <a:r>
              <a:rPr lang="en-US" sz="1000" dirty="0" err="1"/>
              <a:t>Froneman</a:t>
            </a:r>
            <a:r>
              <a:rPr lang="en-US" sz="1000" dirty="0"/>
              <a:t>, W.P., 2025. Sand Prawns Mitigate the Impact of Prolonged Drought on the Biology of a Temporary Open/Closed Estuary. </a:t>
            </a:r>
            <a:r>
              <a:rPr lang="en-US" sz="1000" i="1" dirty="0"/>
              <a:t>Diversity</a:t>
            </a:r>
            <a:r>
              <a:rPr lang="en-US" sz="1000" dirty="0"/>
              <a:t>, </a:t>
            </a:r>
            <a:r>
              <a:rPr lang="en-US" sz="1000" i="1" dirty="0"/>
              <a:t>17</a:t>
            </a:r>
            <a:r>
              <a:rPr lang="en-US" sz="1000" dirty="0"/>
              <a:t>:223.</a:t>
            </a:r>
          </a:p>
          <a:p>
            <a:endParaRPr lang="en-US" sz="1000" dirty="0"/>
          </a:p>
          <a:p>
            <a:r>
              <a:rPr lang="en-US" sz="1000" dirty="0" err="1"/>
              <a:t>Jerling</a:t>
            </a:r>
            <a:r>
              <a:rPr lang="en-US" sz="1000" dirty="0"/>
              <a:t> HL. 2008. The zooplankton community of Richards Bay Harbour and adjacent Mhlathuze Estuary, South Africa. </a:t>
            </a:r>
            <a:r>
              <a:rPr lang="en-US" sz="1000" i="1" dirty="0"/>
              <a:t>African Journal of Marine Science</a:t>
            </a:r>
            <a:r>
              <a:rPr lang="en-US" sz="1000" dirty="0"/>
              <a:t> 30:55-62.</a:t>
            </a:r>
          </a:p>
          <a:p>
            <a:br>
              <a:rPr lang="en-US" sz="1000" dirty="0"/>
            </a:br>
            <a:r>
              <a:rPr lang="en-US" sz="1000" dirty="0"/>
              <a:t>Mackey CF, Untiedt CB, Hein L. 2016. Local drivers of macrobenthos in the northern, central and southern KwaZulu-Natal Bight, South Africa. </a:t>
            </a:r>
            <a:r>
              <a:rPr lang="en-US" sz="1000" i="1" dirty="0"/>
              <a:t>African Journal of Marine Sciences </a:t>
            </a:r>
            <a:r>
              <a:rPr lang="en-US" sz="1000" dirty="0"/>
              <a:t>38:105-121.</a:t>
            </a:r>
          </a:p>
          <a:p>
            <a:endParaRPr lang="en-US" sz="1000" dirty="0"/>
          </a:p>
          <a:p>
            <a:r>
              <a:rPr lang="en-US" sz="1000" dirty="0"/>
              <a:t>DWAF(Department of water affairs and forestry, South Africa). 2001. Benthic </a:t>
            </a:r>
            <a:r>
              <a:rPr lang="en-US" sz="1000" dirty="0" err="1"/>
              <a:t>Macrofauna</a:t>
            </a:r>
            <a:r>
              <a:rPr lang="en-US" sz="1000" dirty="0"/>
              <a:t> of the Great </a:t>
            </a:r>
            <a:r>
              <a:rPr lang="en-US" sz="1000" dirty="0" err="1"/>
              <a:t>Brak</a:t>
            </a:r>
            <a:r>
              <a:rPr lang="en-US" sz="1000" dirty="0"/>
              <a:t> Estuary, monitoring Results. Gibson RN, Atkinson RJA, Gordon JDM, Smith IP, Hughes DJ. 2011. Bioengineering effects of burrowing </a:t>
            </a:r>
            <a:r>
              <a:rPr lang="en-US" sz="1000" dirty="0" err="1"/>
              <a:t>thalassinidean</a:t>
            </a:r>
            <a:r>
              <a:rPr lang="en-US" sz="1000" dirty="0"/>
              <a:t> shrimps on marine soft-bottom ecosystems. Oceanography and marine biology: </a:t>
            </a:r>
            <a:r>
              <a:rPr lang="en-US" sz="1000" i="1" dirty="0"/>
              <a:t>An annual review</a:t>
            </a:r>
            <a:r>
              <a:rPr lang="en-US" sz="1000" dirty="0"/>
              <a:t> 49: 137-192.</a:t>
            </a:r>
          </a:p>
          <a:p>
            <a:endParaRPr lang="en-US" sz="1000" dirty="0"/>
          </a:p>
          <a:p>
            <a:r>
              <a:rPr lang="en-US" sz="1000" dirty="0" err="1"/>
              <a:t>Hanekom</a:t>
            </a:r>
            <a:r>
              <a:rPr lang="en-US" sz="1000" dirty="0"/>
              <a:t> N, Russel IA. 2015. Temporal changes in the </a:t>
            </a:r>
            <a:r>
              <a:rPr lang="en-US" sz="1000" dirty="0" err="1"/>
              <a:t>macrobenthos</a:t>
            </a:r>
            <a:r>
              <a:rPr lang="en-US" sz="1000" dirty="0"/>
              <a:t> of sand prawn (</a:t>
            </a:r>
            <a:r>
              <a:rPr lang="en-US" sz="1000" i="1" dirty="0" err="1"/>
              <a:t>C.kraussi</a:t>
            </a:r>
            <a:r>
              <a:rPr lang="en-US" sz="1000" dirty="0"/>
              <a:t>) beds in </a:t>
            </a:r>
            <a:r>
              <a:rPr lang="en-US" sz="1000" dirty="0" err="1"/>
              <a:t>Swartvlei</a:t>
            </a:r>
            <a:r>
              <a:rPr lang="en-US" sz="1000" dirty="0"/>
              <a:t> Estuary, South Africa. </a:t>
            </a:r>
            <a:r>
              <a:rPr lang="en-US" sz="1000" i="1" dirty="0"/>
              <a:t>African Zoology</a:t>
            </a:r>
            <a:r>
              <a:rPr lang="en-US" sz="1000" dirty="0"/>
              <a:t>, 50:41-51.</a:t>
            </a:r>
          </a:p>
          <a:p>
            <a:endParaRPr lang="en-US" sz="1000" dirty="0"/>
          </a:p>
          <a:p>
            <a:r>
              <a:rPr lang="en-US" sz="1000" dirty="0"/>
              <a:t>Pillay D, Branch GM, Forbes AT. 2007. The influence of bioturbation by the sand prawn  </a:t>
            </a:r>
            <a:r>
              <a:rPr lang="en-US" sz="1000" dirty="0" err="1"/>
              <a:t>callianassa</a:t>
            </a:r>
            <a:r>
              <a:rPr lang="en-US" sz="1000" dirty="0"/>
              <a:t> </a:t>
            </a:r>
            <a:r>
              <a:rPr lang="en-US" sz="1000" dirty="0" err="1"/>
              <a:t>kraussi</a:t>
            </a:r>
            <a:r>
              <a:rPr lang="en-US" sz="1000" dirty="0"/>
              <a:t> on feeding and survival of the bivalve </a:t>
            </a:r>
            <a:r>
              <a:rPr lang="en-US" sz="1000" i="1" dirty="0" err="1"/>
              <a:t>Eumarcia</a:t>
            </a:r>
            <a:r>
              <a:rPr lang="en-US" sz="1000" i="1" dirty="0"/>
              <a:t> </a:t>
            </a:r>
            <a:r>
              <a:rPr lang="en-US" sz="1000" i="1" dirty="0" err="1"/>
              <a:t>paupercula</a:t>
            </a:r>
            <a:r>
              <a:rPr lang="en-US" sz="1000" i="1" dirty="0"/>
              <a:t> </a:t>
            </a:r>
            <a:r>
              <a:rPr lang="en-US" sz="1000" dirty="0"/>
              <a:t>and the gastropod </a:t>
            </a:r>
            <a:r>
              <a:rPr lang="en-US" sz="1000" i="1" dirty="0" err="1"/>
              <a:t>Nassarius</a:t>
            </a:r>
            <a:r>
              <a:rPr lang="en-US" sz="1000" i="1" dirty="0"/>
              <a:t> </a:t>
            </a:r>
            <a:r>
              <a:rPr lang="en-US" sz="1000" i="1" dirty="0" err="1"/>
              <a:t>kraussians</a:t>
            </a:r>
            <a:r>
              <a:rPr lang="en-US" sz="1000" dirty="0"/>
              <a:t>. </a:t>
            </a:r>
            <a:r>
              <a:rPr lang="en-US" sz="1000" i="1" dirty="0"/>
              <a:t>Journal of experimental marine biology and ecology </a:t>
            </a:r>
            <a:r>
              <a:rPr lang="en-US" sz="1000" dirty="0"/>
              <a:t>344:1-9.</a:t>
            </a:r>
          </a:p>
          <a:p>
            <a:endParaRPr lang="en-US" sz="1000" dirty="0"/>
          </a:p>
          <a:p>
            <a:r>
              <a:rPr lang="en-US" sz="1000" dirty="0" err="1"/>
              <a:t>Njozela</a:t>
            </a:r>
            <a:r>
              <a:rPr lang="en-US" sz="1000" dirty="0"/>
              <a:t> C. 2012. The role of sand prawn, </a:t>
            </a:r>
            <a:r>
              <a:rPr lang="en-US" sz="1000" i="1" dirty="0" err="1"/>
              <a:t>C.kraussi</a:t>
            </a:r>
            <a:r>
              <a:rPr lang="en-US" sz="1000" dirty="0"/>
              <a:t>, as an ecosystem engineer in a temporarily open/closed Eastern Cape estuary, South Africa. Masters thesis, Rhodes University, South Africa.</a:t>
            </a:r>
          </a:p>
          <a:p>
            <a:endParaRPr lang="en-US" sz="1000" dirty="0"/>
          </a:p>
          <a:p>
            <a:r>
              <a:rPr lang="en-US" sz="1000" dirty="0" err="1"/>
              <a:t>Nel</a:t>
            </a:r>
            <a:r>
              <a:rPr lang="en-US" sz="1000" dirty="0"/>
              <a:t> P. 2006a. Exploitation and biology of the bait organism </a:t>
            </a:r>
            <a:r>
              <a:rPr lang="en-US" sz="1000" i="1" dirty="0" err="1"/>
              <a:t>Callianassa</a:t>
            </a:r>
            <a:r>
              <a:rPr lang="en-US" sz="1000" i="1" dirty="0"/>
              <a:t> </a:t>
            </a:r>
            <a:r>
              <a:rPr lang="en-US" sz="1000" i="1" dirty="0" err="1"/>
              <a:t>kraussi</a:t>
            </a:r>
            <a:r>
              <a:rPr lang="en-US" sz="1000" i="1" dirty="0"/>
              <a:t> </a:t>
            </a:r>
            <a:r>
              <a:rPr lang="en-US" sz="1000" dirty="0" err="1"/>
              <a:t>stebbing</a:t>
            </a:r>
            <a:r>
              <a:rPr lang="en-US" sz="1000" dirty="0"/>
              <a:t>(</a:t>
            </a:r>
            <a:r>
              <a:rPr lang="en-US" sz="1000" dirty="0" err="1"/>
              <a:t>crustacea</a:t>
            </a:r>
            <a:r>
              <a:rPr lang="en-US" sz="1000" dirty="0"/>
              <a:t>; </a:t>
            </a:r>
            <a:r>
              <a:rPr lang="en-US" sz="1000" dirty="0" err="1"/>
              <a:t>Decapoda</a:t>
            </a:r>
            <a:r>
              <a:rPr lang="en-US" sz="1000" dirty="0"/>
              <a:t> - </a:t>
            </a:r>
            <a:r>
              <a:rPr lang="en-US" sz="1000" dirty="0" err="1"/>
              <a:t>Thalassinidae</a:t>
            </a:r>
            <a:r>
              <a:rPr lang="en-US" sz="1000" dirty="0"/>
              <a:t>) in Langebaan Lagoon. MSc thesis, University of Cape Town, South Africa. </a:t>
            </a:r>
          </a:p>
          <a:p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endParaRPr lang="en-US" sz="1200" b="1" dirty="0">
              <a:solidFill>
                <a:srgbClr val="1561AA"/>
              </a:solidFill>
            </a:endParaRPr>
          </a:p>
          <a:p>
            <a:endParaRPr lang="en-US" sz="12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561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427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FD6040D3-8129-EB17-DBC8-BE9CBE57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40168980-89E9-4972-BD62-68EB10970DBF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F6E5929-81DA-EFBD-A37D-0B2B58A20764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45FDCC3A-02AB-5D27-96E2-D4E6EB478148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6843D03B-ABBD-4B25-3707-BE417FCDA0E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664978B-4C05-FA0B-443F-C11A04DBD5AB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2E177944-973D-429E-1C06-4FB5EED86C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9DA9FF-D8E0-D497-5B59-CBE28C22D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7BE0B2B9-E40D-4CA8-1EEE-59DECAD7EA39}"/>
              </a:ext>
            </a:extLst>
          </p:cNvPr>
          <p:cNvSpPr/>
          <p:nvPr/>
        </p:nvSpPr>
        <p:spPr>
          <a:xfrm>
            <a:off x="1499191" y="281025"/>
            <a:ext cx="5571381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Acknowledgements and Q&amp;A.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24E77-2741-AAE2-493F-848E3FA9EA43}"/>
              </a:ext>
            </a:extLst>
          </p:cNvPr>
          <p:cNvSpPr txBox="1"/>
          <p:nvPr/>
        </p:nvSpPr>
        <p:spPr>
          <a:xfrm>
            <a:off x="194251" y="1243389"/>
            <a:ext cx="8453049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University of Zululand, Department of Zoology – For academic support and resources.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Fieldwork team and lab assistants – for their dedication during sampling and data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Supervisors and mentors – for their guidance throughout the project.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1383" y="2706537"/>
            <a:ext cx="2806995" cy="70788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F1A48-6BB9-0974-D164-E544DF21725D}"/>
              </a:ext>
            </a:extLst>
          </p:cNvPr>
          <p:cNvSpPr txBox="1"/>
          <p:nvPr/>
        </p:nvSpPr>
        <p:spPr>
          <a:xfrm>
            <a:off x="0" y="4371548"/>
            <a:ext cx="2806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ziziphomamfengu17@gmail.com</a:t>
            </a:r>
          </a:p>
        </p:txBody>
      </p:sp>
    </p:spTree>
    <p:extLst>
      <p:ext uri="{BB962C8B-B14F-4D97-AF65-F5344CB8AC3E}">
        <p14:creationId xmlns:p14="http://schemas.microsoft.com/office/powerpoint/2010/main" val="36905503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1414</Words>
  <Application>Microsoft Office PowerPoint</Application>
  <PresentationFormat>On-screen Show (16:9)</PresentationFormat>
  <Paragraphs>132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ZIZIPHO MAMFENGU</cp:lastModifiedBy>
  <cp:revision>21</cp:revision>
  <dcterms:modified xsi:type="dcterms:W3CDTF">2025-10-15T10:14:36Z</dcterms:modified>
</cp:coreProperties>
</file>